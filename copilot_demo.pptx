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11887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6EDF3"/>
                </a:solidFill>
                <a:latin typeface="Courier New"/>
              </a:rPr>
              <a:t>GitHub Copilot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74552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58A6FF"/>
                </a:solidFill>
                <a:latin typeface="Calibri"/>
              </a:rPr>
              <a:t>Feature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11274552" cy="3231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8B949E"/>
                </a:solidFill>
                <a:latin typeface="Calibri"/>
              </a:rPr>
              <a:t>AI Integration Engineer Demo  ·  R&amp;D Enablement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886200"/>
            <a:ext cx="1719072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FB950"/>
                </a:solidFill>
                <a:latin typeface="Courier New"/>
              </a:rPr>
              <a:t>1  Auto-complete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8024" y="3886200"/>
            <a:ext cx="1719072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78024" y="38862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C8CFF"/>
                </a:solidFill>
                <a:latin typeface="Courier New"/>
              </a:rPr>
              <a:t>2  Ask + /explain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3886200"/>
            <a:ext cx="1719072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5968" y="38862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3B341"/>
                </a:solidFill>
                <a:latin typeface="Courier New"/>
              </a:rPr>
              <a:t>3  Agent Mode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3912" y="3886200"/>
            <a:ext cx="1719072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53912" y="38862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8166"/>
                </a:solidFill>
                <a:latin typeface="Courier New"/>
              </a:rPr>
              <a:t>4  Tests + Fix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1855" y="3886200"/>
            <a:ext cx="1719072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91855" y="38862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88BFD"/>
                </a:solidFill>
                <a:latin typeface="Courier New"/>
              </a:rPr>
              <a:t>5  Inline Chat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3886200"/>
            <a:ext cx="1719072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29800" y="3886200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  <a:latin typeface="Courier New"/>
              </a:rPr>
              <a:t>6  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Calibri"/>
              </a:rPr>
              <a:t>Demo project: Python Task Manager  ·  VS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GitHub Copilot  /  Feature 1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ourier Ne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Courier New"/>
              </a:rPr>
              <a:t>Inline Auto-Complete from Comment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0292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6012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Courier New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1.  Type a natural-language comment describing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801368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US" sz="1200" b="0" i="0" dirty="0">
                <a:solidFill>
                  <a:srgbClr val="E6EDF3"/>
                </a:solidFill>
                <a:latin typeface="Calibri"/>
              </a:rPr>
              <a:t>2.  Press Enter to move to the next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76856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6EDF3"/>
                </a:solidFill>
                <a:latin typeface="Calibri"/>
              </a:rPr>
              <a:t>3.  Copilot shows a ghost suggestion in grey.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52344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4.  Press Tab to accept the whole suggestion.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27832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5.  Use Alt+] to cycle through alternatives.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51960"/>
            <a:ext cx="5029200" cy="658368"/>
          </a:xfrm>
          <a:prstGeom prst="rect">
            <a:avLst/>
          </a:prstGeom>
          <a:solidFill>
            <a:srgbClr val="1F4E8C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4754880" cy="47548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  <a:latin typeface="Courier New"/>
              </a:rPr>
              <a:t>Tab  Accept  ·  Esc  Dismiss  ·  Alt+]  Next  ·  Ctrl+Enter  Open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868680"/>
            <a:ext cx="6309360" cy="4343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15000" y="9875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870448" y="9875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025896" y="9875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950976"/>
            <a:ext cx="5760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ourier New"/>
              </a:rPr>
              <a:t>task_manager.py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1207008"/>
            <a:ext cx="603504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8B949E"/>
                </a:solidFill>
                <a:latin typeface="Courier New"/>
              </a:rPr>
              <a:t># task_manager.py</a:t>
            </a:r>
          </a:p>
          <a:p>
            <a:pPr algn="l"/>
            <a:endParaRPr sz="1050" b="0" i="1" dirty="0">
              <a:solidFill>
                <a:srgbClr val="8B949E"/>
              </a:solidFill>
              <a:latin typeface="Courier New"/>
            </a:endParaRPr>
          </a:p>
          <a:p>
            <a:pPr algn="l"/>
            <a:r>
              <a:rPr sz="1050" b="0" i="1" dirty="0">
                <a:solidFill>
                  <a:srgbClr val="8B949E"/>
                </a:solidFill>
                <a:latin typeface="Courier New"/>
              </a:rPr>
              <a:t># Function that adds a new task with title,</a:t>
            </a:r>
          </a:p>
          <a:p>
            <a:pPr algn="l"/>
            <a:r>
              <a:rPr sz="1050" b="0" i="1" dirty="0">
                <a:solidFill>
                  <a:srgbClr val="8B949E"/>
                </a:solidFill>
                <a:latin typeface="Courier New"/>
              </a:rPr>
              <a:t># priority (low/medium/high), and due date</a:t>
            </a:r>
          </a:p>
          <a:p>
            <a:pPr algn="l"/>
            <a:endParaRPr sz="1050" b="0" i="1" dirty="0">
              <a:solidFill>
                <a:srgbClr val="8B949E"/>
              </a:solidFill>
              <a:latin typeface="Courier New"/>
            </a:endParaRPr>
          </a:p>
          <a:p>
            <a:pPr algn="l"/>
            <a:r>
              <a:rPr sz="1050" b="0" i="0" dirty="0">
                <a:solidFill>
                  <a:srgbClr val="E6EDF3"/>
                </a:solidFill>
                <a:latin typeface="Courier New"/>
              </a:rPr>
              <a:t>def </a:t>
            </a:r>
            <a:r>
              <a:rPr sz="1050" b="0" i="0" dirty="0" err="1">
                <a:solidFill>
                  <a:srgbClr val="E6EDF3"/>
                </a:solidFill>
                <a:latin typeface="Courier New"/>
              </a:rPr>
              <a:t>add_task</a:t>
            </a:r>
            <a:r>
              <a:rPr sz="1050" b="0" i="0" dirty="0">
                <a:solidFill>
                  <a:srgbClr val="E6EDF3"/>
                </a:solidFill>
                <a:latin typeface="Courier New"/>
              </a:rPr>
              <a:t>(title: str,</a:t>
            </a:r>
          </a:p>
          <a:p>
            <a:pPr algn="l"/>
            <a:r>
              <a:rPr sz="1050" b="0" i="0" dirty="0">
                <a:solidFill>
                  <a:srgbClr val="E6EDF3"/>
                </a:solidFill>
                <a:latin typeface="Courier New"/>
              </a:rPr>
              <a:t>             priority: str = "medium",</a:t>
            </a:r>
          </a:p>
          <a:p>
            <a:pPr algn="l"/>
            <a:r>
              <a:rPr sz="1050" b="0" i="0" dirty="0">
                <a:solidFill>
                  <a:srgbClr val="E6EDF3"/>
                </a:solidFill>
                <a:latin typeface="Courier New"/>
              </a:rPr>
              <a:t>             </a:t>
            </a:r>
            <a:r>
              <a:rPr sz="1050" b="0" i="0" dirty="0" err="1">
                <a:solidFill>
                  <a:srgbClr val="E6EDF3"/>
                </a:solidFill>
                <a:latin typeface="Courier New"/>
              </a:rPr>
              <a:t>due_date</a:t>
            </a:r>
            <a:r>
              <a:rPr sz="1050" b="0" i="0" dirty="0">
                <a:solidFill>
                  <a:srgbClr val="E6EDF3"/>
                </a:solidFill>
                <a:latin typeface="Courier New"/>
              </a:rPr>
              <a:t>: Optional[str] = None) -&gt; </a:t>
            </a:r>
            <a:r>
              <a:rPr sz="1050" b="0" i="0" dirty="0" err="1">
                <a:solidFill>
                  <a:srgbClr val="E6EDF3"/>
                </a:solidFill>
                <a:latin typeface="Courier New"/>
              </a:rPr>
              <a:t>dict</a:t>
            </a:r>
            <a:r>
              <a:rPr sz="1050" b="0" i="0" dirty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050" b="0" i="1" dirty="0">
                <a:solidFill>
                  <a:srgbClr val="8B949E"/>
                </a:solidFill>
                <a:latin typeface="Courier New"/>
              </a:rPr>
              <a:t>    """Add task to store."""</a:t>
            </a:r>
          </a:p>
          <a:p>
            <a:pPr algn="l"/>
            <a:r>
              <a:rPr sz="1050" b="0" i="0" dirty="0">
                <a:solidFill>
                  <a:srgbClr val="E6EDF3"/>
                </a:solidFill>
                <a:latin typeface="Courier New"/>
              </a:rPr>
              <a:t>    task = {</a:t>
            </a:r>
          </a:p>
          <a:p>
            <a:pPr algn="l"/>
            <a:r>
              <a:rPr sz="1050" b="0" i="0" dirty="0">
                <a:solidFill>
                  <a:srgbClr val="E6EDF3"/>
                </a:solidFill>
                <a:latin typeface="Courier New"/>
              </a:rPr>
              <a:t>        "id": _</a:t>
            </a:r>
            <a:r>
              <a:rPr sz="1050" b="0" i="0" dirty="0" err="1">
                <a:solidFill>
                  <a:srgbClr val="E6EDF3"/>
                </a:solidFill>
                <a:latin typeface="Courier New"/>
              </a:rPr>
              <a:t>next_id</a:t>
            </a:r>
            <a:r>
              <a:rPr sz="1050" b="0" i="0" dirty="0">
                <a:solidFill>
                  <a:srgbClr val="E6EDF3"/>
                </a:solidFill>
                <a:latin typeface="Courier New"/>
              </a:rPr>
              <a:t>, "title": title,</a:t>
            </a:r>
          </a:p>
          <a:p>
            <a:pPr algn="l"/>
            <a:r>
              <a:rPr sz="1050" b="0" i="0" dirty="0">
                <a:solidFill>
                  <a:srgbClr val="E6EDF3"/>
                </a:solidFill>
                <a:latin typeface="Courier New"/>
              </a:rPr>
              <a:t>        ...</a:t>
            </a:r>
          </a:p>
          <a:p>
            <a:pPr algn="l"/>
            <a:r>
              <a:rPr sz="1050" b="0" i="0" dirty="0">
                <a:solidFill>
                  <a:srgbClr val="E6EDF3"/>
                </a:solidFill>
                <a:latin typeface="Courier New"/>
              </a:rPr>
              <a:t>    }</a:t>
            </a:r>
          </a:p>
          <a:p>
            <a:pPr algn="l"/>
            <a:r>
              <a:rPr sz="1050" b="0" i="0" dirty="0">
                <a:solidFill>
                  <a:srgbClr val="E6EDF3"/>
                </a:solidFill>
                <a:latin typeface="Courier New"/>
              </a:rPr>
              <a:t>    _</a:t>
            </a:r>
            <a:r>
              <a:rPr sz="1050" b="0" i="0" dirty="0" err="1">
                <a:solidFill>
                  <a:srgbClr val="E6EDF3"/>
                </a:solidFill>
                <a:latin typeface="Courier New"/>
              </a:rPr>
              <a:t>tasks.append</a:t>
            </a:r>
            <a:r>
              <a:rPr sz="1050" b="0" i="0" dirty="0">
                <a:solidFill>
                  <a:srgbClr val="E6EDF3"/>
                </a:solidFill>
                <a:latin typeface="Courier New"/>
              </a:rPr>
              <a:t>(task)</a:t>
            </a:r>
          </a:p>
          <a:p>
            <a:pPr algn="l"/>
            <a:r>
              <a:rPr sz="1050" b="0" i="0" dirty="0">
                <a:solidFill>
                  <a:srgbClr val="E6EDF3"/>
                </a:solidFill>
                <a:latin typeface="Courier New"/>
              </a:rPr>
              <a:t>    return 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7782" y="1556706"/>
            <a:ext cx="2238123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8B949E"/>
                </a:solidFill>
                <a:latin typeface="Calibri"/>
              </a:rPr>
              <a:t>← Copilot ghost suggestion appears here in grey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376672"/>
            <a:ext cx="2139696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3192" y="5394959"/>
            <a:ext cx="2048255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urier New"/>
              </a:rPr>
              <a:t>inline completion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24328" y="5376672"/>
            <a:ext cx="1810512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97480" y="5394959"/>
            <a:ext cx="1719072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urier New"/>
              </a:rPr>
              <a:t>comment-driven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1" y="5376672"/>
            <a:ext cx="1700784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72583" y="5394959"/>
            <a:ext cx="1609344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urier New"/>
              </a:rPr>
              <a:t>Tab to accept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GitHub Copilot  /  Feature 2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ourier New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C8CFF"/>
                </a:solidFill>
                <a:latin typeface="Courier New"/>
              </a:rPr>
              <a:t>Chat Panel — Ask Mode, /explain &amp;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14400"/>
            <a:ext cx="3749039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3749039" cy="36576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" y="932688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  <a:latin typeface="Courier New"/>
              </a:rPr>
              <a:t>Ask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8988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Open Copilot Chat  (Ctrl+Alt+I)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0195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Make sure mode = Ask  (not Agent)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1401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6EDF3"/>
                </a:solidFill>
                <a:latin typeface="Calibri"/>
              </a:rPr>
              <a:t>Type: "What does </a:t>
            </a:r>
            <a:r>
              <a:rPr sz="1200" b="0" i="0" dirty="0" err="1">
                <a:solidFill>
                  <a:srgbClr val="E6EDF3"/>
                </a:solidFill>
                <a:latin typeface="Calibri"/>
              </a:rPr>
              <a:t>get_overdue_tasks</a:t>
            </a:r>
            <a:r>
              <a:rPr sz="1200" b="0" i="0" dirty="0">
                <a:solidFill>
                  <a:srgbClr val="E6EDF3"/>
                </a:solidFill>
                <a:latin typeface="Calibri"/>
              </a:rPr>
              <a:t> do?"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Copilot answers using your open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38144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Does NOT modify files in Ask 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914400"/>
            <a:ext cx="3749039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79" y="914400"/>
            <a:ext cx="3749039" cy="36576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7407" y="932688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  <a:latin typeface="Courier New"/>
              </a:rPr>
              <a:t>/explain — Slash 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38988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Select a function in the 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90195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Type  /explain  in chat → instant explanation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41401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Try  /fix  on a buggy snippet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9260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Try  /tests  to generate test stubs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38144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Built-in shortcuts to common tasks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19" y="914400"/>
            <a:ext cx="3749039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75319" y="914400"/>
            <a:ext cx="3749039" cy="36576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85047" y="932688"/>
            <a:ext cx="3520440" cy="3291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  <a:latin typeface="Courier New"/>
              </a:rPr>
              <a:t>Model &amp;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38988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Click model name to switch models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90195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Use  #file  to add a file as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41401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Use  @workspace  to search the repo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260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Drag a file from Explorer into chat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438144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More context = better answers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166360"/>
            <a:ext cx="11548872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230368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6EDF3"/>
                </a:solidFill>
                <a:latin typeface="Courier New"/>
              </a:rPr>
              <a:t>You  /explain </a:t>
            </a:r>
            <a:r>
              <a:rPr sz="1100" b="0" i="0" dirty="0" err="1">
                <a:solidFill>
                  <a:srgbClr val="E6EDF3"/>
                </a:solidFill>
                <a:latin typeface="Courier New"/>
              </a:rPr>
              <a:t>get_overdue_tasks</a:t>
            </a:r>
            <a:r>
              <a:rPr sz="1100" b="0" i="0" dirty="0">
                <a:solidFill>
                  <a:srgbClr val="E6EDF3"/>
                </a:solidFill>
                <a:latin typeface="Courier New"/>
              </a:rPr>
              <a:t>  →  Copilot:  Returns all incomplete tasks whose </a:t>
            </a:r>
            <a:r>
              <a:rPr sz="1100" b="0" i="0" dirty="0" err="1">
                <a:solidFill>
                  <a:srgbClr val="E6EDF3"/>
                </a:solidFill>
                <a:latin typeface="Courier New"/>
              </a:rPr>
              <a:t>due_date</a:t>
            </a:r>
            <a:r>
              <a:rPr sz="1100" b="0" i="0" dirty="0">
                <a:solidFill>
                  <a:srgbClr val="E6EDF3"/>
                </a:solidFill>
                <a:latin typeface="Courier New"/>
              </a:rPr>
              <a:t> is before today...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48149E3-A5D7-81C1-F3EF-4D186AB8B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060" y="1622883"/>
            <a:ext cx="1151860" cy="7088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GitHub Copilot  /  Feature 3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ourier New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B341"/>
                </a:solidFill>
                <a:latin typeface="Courier New"/>
              </a:rPr>
              <a:t>Agent Mode — Autonomous Multi-Step Coding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466344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9601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B341"/>
                </a:solidFill>
                <a:latin typeface="Courier New"/>
              </a:rPr>
              <a:t>What is Agent Mode?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298448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Agent mode lets Copilot autonomously: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27631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  •  Read and write multiple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56815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  •  Run terminal commands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86000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  •  Iterate until the task is done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615184"/>
            <a:ext cx="438912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  •  Ask clarifying questions if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90672"/>
            <a:ext cx="466344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3154680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urier New"/>
              </a:rPr>
              <a:t>Agent vs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45643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Ask mode  →  answers questions, read-only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749039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6EDF3"/>
                </a:solidFill>
                <a:latin typeface="Calibri"/>
              </a:rPr>
              <a:t>Agent mode  →  edits code, runs commands, loops</a:t>
            </a:r>
          </a:p>
        </p:txBody>
      </p:sp>
      <p:sp>
        <p:nvSpPr>
          <p:cNvPr id="19" name="Oval 18"/>
          <p:cNvSpPr/>
          <p:nvPr/>
        </p:nvSpPr>
        <p:spPr>
          <a:xfrm>
            <a:off x="5257800" y="886968"/>
            <a:ext cx="274320" cy="274320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88696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ourier New"/>
              </a:rPr>
              <a:t>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868680"/>
            <a:ext cx="62179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06440" y="941832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Switch to Agent mode in the chat panel</a:t>
            </a:r>
          </a:p>
        </p:txBody>
      </p:sp>
      <p:sp>
        <p:nvSpPr>
          <p:cNvPr id="23" name="Oval 22"/>
          <p:cNvSpPr/>
          <p:nvPr/>
        </p:nvSpPr>
        <p:spPr>
          <a:xfrm>
            <a:off x="5257800" y="1847088"/>
            <a:ext cx="274320" cy="274320"/>
          </a:xfrm>
          <a:prstGeom prst="ellipse">
            <a:avLst/>
          </a:prstGeom>
          <a:solidFill>
            <a:srgbClr val="E3B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7800" y="184708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ourier New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1828800"/>
            <a:ext cx="62179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06440" y="1901952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E6EDF3"/>
                </a:solidFill>
                <a:latin typeface="Calibri"/>
              </a:rPr>
              <a:t>Type: "Add </a:t>
            </a:r>
            <a:r>
              <a:rPr sz="1200" b="0" i="0" dirty="0" err="1">
                <a:solidFill>
                  <a:srgbClr val="E6EDF3"/>
                </a:solidFill>
                <a:latin typeface="Calibri"/>
              </a:rPr>
              <a:t>get_tasks_by_priority</a:t>
            </a:r>
            <a:r>
              <a:rPr sz="1200" b="0" i="0" dirty="0">
                <a:solidFill>
                  <a:srgbClr val="E6EDF3"/>
                </a:solidFill>
                <a:latin typeface="Calibri"/>
              </a:rPr>
              <a:t>() and </a:t>
            </a:r>
            <a:r>
              <a:rPr sz="1200" b="0" i="0" dirty="0" err="1">
                <a:solidFill>
                  <a:srgbClr val="E6EDF3"/>
                </a:solidFill>
                <a:latin typeface="Calibri"/>
              </a:rPr>
              <a:t>get_overdue_tasks</a:t>
            </a:r>
            <a:r>
              <a:rPr sz="1200" b="0" i="0" dirty="0">
                <a:solidFill>
                  <a:srgbClr val="E6EDF3"/>
                </a:solidFill>
                <a:latin typeface="Calibri"/>
              </a:rPr>
              <a:t>() to task_manager.py"</a:t>
            </a:r>
          </a:p>
        </p:txBody>
      </p:sp>
      <p:sp>
        <p:nvSpPr>
          <p:cNvPr id="27" name="Oval 26"/>
          <p:cNvSpPr/>
          <p:nvPr/>
        </p:nvSpPr>
        <p:spPr>
          <a:xfrm>
            <a:off x="5257800" y="2807208"/>
            <a:ext cx="274320" cy="27432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57800" y="28072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ourier New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788920"/>
            <a:ext cx="62179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06440" y="2862072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Copilot reads the file, proposes changes, shows diff</a:t>
            </a:r>
          </a:p>
        </p:txBody>
      </p:sp>
      <p:sp>
        <p:nvSpPr>
          <p:cNvPr id="31" name="Oval 30"/>
          <p:cNvSpPr/>
          <p:nvPr/>
        </p:nvSpPr>
        <p:spPr>
          <a:xfrm>
            <a:off x="5257800" y="3767328"/>
            <a:ext cx="274320" cy="27432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57800" y="376732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ourier New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749040"/>
            <a:ext cx="62179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06440" y="3822192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Review diff → Accept / Discard each change</a:t>
            </a:r>
          </a:p>
        </p:txBody>
      </p:sp>
      <p:sp>
        <p:nvSpPr>
          <p:cNvPr id="35" name="Oval 34"/>
          <p:cNvSpPr/>
          <p:nvPr/>
        </p:nvSpPr>
        <p:spPr>
          <a:xfrm>
            <a:off x="5257800" y="4727448"/>
            <a:ext cx="274320" cy="274320"/>
          </a:xfrm>
          <a:prstGeom prst="ellipse">
            <a:avLst/>
          </a:prstGeom>
          <a:solidFill>
            <a:srgbClr val="F78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57800" y="47274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ourier New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709160"/>
            <a:ext cx="621792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06440" y="4782312"/>
            <a:ext cx="5943600" cy="6583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Copilot may run  python task_manager.py  to self-verify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166360"/>
            <a:ext cx="2029967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" y="5184648"/>
            <a:ext cx="1938527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E3B341"/>
                </a:solidFill>
                <a:latin typeface="Courier New"/>
              </a:rPr>
              <a:t>autonomous 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14600" y="5166360"/>
            <a:ext cx="2029967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587752" y="5184648"/>
            <a:ext cx="1938527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3B341"/>
                </a:solidFill>
                <a:latin typeface="Courier New"/>
              </a:rPr>
              <a:t>multi-file edits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09159" y="5166360"/>
            <a:ext cx="1920239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82312" y="5184648"/>
            <a:ext cx="1828799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E3B341"/>
                </a:solidFill>
                <a:latin typeface="Courier New"/>
              </a:rPr>
              <a:t>terminal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GitHub Copilot  /  Feature 4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ourier New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166"/>
                </a:solidFill>
                <a:latin typeface="Courier New"/>
              </a:rPr>
              <a:t>Agent Mode — Generate Tests &amp; Auto-Fix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5212080" cy="42519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96012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166"/>
                </a:solidFill>
                <a:latin typeface="Courier New"/>
              </a:rPr>
              <a:t>Demo Prompt (Agent mode)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298448"/>
            <a:ext cx="4892040" cy="1417320"/>
          </a:xfrm>
          <a:prstGeom prst="rect">
            <a:avLst/>
          </a:prstGeom>
          <a:solidFill>
            <a:srgbClr val="0A0A1A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4663440" cy="12344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1" dirty="0">
                <a:solidFill>
                  <a:srgbClr val="58A6FF"/>
                </a:solidFill>
                <a:latin typeface="Courier New"/>
              </a:rPr>
              <a:t>"Write </a:t>
            </a:r>
            <a:r>
              <a:rPr sz="1050" b="0" i="1" dirty="0" err="1">
                <a:solidFill>
                  <a:srgbClr val="58A6FF"/>
                </a:solidFill>
                <a:latin typeface="Courier New"/>
              </a:rPr>
              <a:t>pytest</a:t>
            </a:r>
            <a:r>
              <a:rPr sz="1050" b="0" i="1" dirty="0">
                <a:solidFill>
                  <a:srgbClr val="58A6FF"/>
                </a:solidFill>
                <a:latin typeface="Courier New"/>
              </a:rPr>
              <a:t> tests for task_manager.py.
Cover all public functions, include
edge cases and fixtures that reset state.
Save to test_task_manager.py, run </a:t>
            </a:r>
            <a:r>
              <a:rPr sz="1050" b="0" i="1" dirty="0" err="1">
                <a:solidFill>
                  <a:srgbClr val="58A6FF"/>
                </a:solidFill>
                <a:latin typeface="Courier New"/>
              </a:rPr>
              <a:t>pytest</a:t>
            </a:r>
            <a:r>
              <a:rPr sz="1050" b="0" i="1" dirty="0">
                <a:solidFill>
                  <a:srgbClr val="58A6FF"/>
                </a:solidFill>
                <a:latin typeface="Courier New"/>
              </a:rPr>
              <a:t>,
and fix any failures automatically."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834640"/>
            <a:ext cx="49377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949E"/>
                </a:solidFill>
                <a:latin typeface="Courier New"/>
              </a:rPr>
              <a:t>What Agent does next: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3154680"/>
            <a:ext cx="256032" cy="25603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3154680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7296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Reads task_manager.py to understand the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547872"/>
            <a:ext cx="256032" cy="25603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547872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566160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Generates test_task_manager.py with full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3941064"/>
            <a:ext cx="256032" cy="25603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941064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59352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Runs:  pytest test_task_manager.py  in terminal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4334256"/>
            <a:ext cx="256032" cy="25603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4334256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352544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If tests fail → reads error, patches 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4727448"/>
            <a:ext cx="256032" cy="25603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" y="4727448"/>
            <a:ext cx="256032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  <a:latin typeface="Courier New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4745736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Re-runs pytest → iterates until green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868680"/>
            <a:ext cx="6217920" cy="4251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806440" y="9875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961888" y="9875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17336" y="9875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950976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ourier New"/>
              </a:rPr>
              <a:t>Terminal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1261872"/>
            <a:ext cx="5943600" cy="37490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FB950"/>
                </a:solidFill>
                <a:latin typeface="Courier New"/>
              </a:rPr>
              <a:t>$ </a:t>
            </a:r>
            <a:r>
              <a:rPr sz="1000" b="0" i="0" dirty="0" err="1">
                <a:solidFill>
                  <a:srgbClr val="3FB950"/>
                </a:solidFill>
                <a:latin typeface="Courier New"/>
              </a:rPr>
              <a:t>pytest</a:t>
            </a:r>
            <a:r>
              <a:rPr sz="1000" b="0" i="0" dirty="0">
                <a:solidFill>
                  <a:srgbClr val="3FB950"/>
                </a:solidFill>
                <a:latin typeface="Courier New"/>
              </a:rPr>
              <a:t> test_task_manager.py -v</a:t>
            </a:r>
          </a:p>
          <a:p>
            <a:pPr algn="l"/>
            <a:r>
              <a:rPr sz="1000" b="0" i="0" dirty="0">
                <a:solidFill>
                  <a:srgbClr val="F78166"/>
                </a:solidFill>
                <a:latin typeface="Courier New"/>
              </a:rPr>
              <a:t>FAILED test_task_manager.py::TestCompleteTask::</a:t>
            </a:r>
            <a:r>
              <a:rPr sz="1000" b="0" i="0" dirty="0" err="1">
                <a:solidFill>
                  <a:srgbClr val="F78166"/>
                </a:solidFill>
                <a:latin typeface="Courier New"/>
              </a:rPr>
              <a:t>test_completed_at_is_set</a:t>
            </a:r>
            <a:endParaRPr sz="1000" b="0" i="0" dirty="0">
              <a:solidFill>
                <a:srgbClr val="F78166"/>
              </a:solidFill>
              <a:latin typeface="Courier New"/>
            </a:endParaRPr>
          </a:p>
          <a:p>
            <a:pPr algn="l"/>
            <a:r>
              <a:rPr sz="1000" b="0" i="0" dirty="0" err="1">
                <a:solidFill>
                  <a:srgbClr val="F78166"/>
                </a:solidFill>
                <a:latin typeface="Courier New"/>
              </a:rPr>
              <a:t>AssertionError</a:t>
            </a:r>
            <a:r>
              <a:rPr sz="1000" b="0" i="0" dirty="0">
                <a:solidFill>
                  <a:srgbClr val="F78166"/>
                </a:solidFill>
                <a:latin typeface="Courier New"/>
              </a:rPr>
              <a:t>: '</a:t>
            </a:r>
            <a:r>
              <a:rPr sz="1000" b="0" i="0" dirty="0" err="1">
                <a:solidFill>
                  <a:srgbClr val="F78166"/>
                </a:solidFill>
                <a:latin typeface="Courier New"/>
              </a:rPr>
              <a:t>completed_at</a:t>
            </a:r>
            <a:r>
              <a:rPr sz="1000" b="0" i="0" dirty="0">
                <a:solidFill>
                  <a:srgbClr val="F78166"/>
                </a:solidFill>
                <a:latin typeface="Courier New"/>
              </a:rPr>
              <a:t>' not in task</a:t>
            </a:r>
          </a:p>
          <a:p>
            <a:pPr algn="l"/>
            <a:endParaRPr sz="1000" b="0" i="0" dirty="0">
              <a:solidFill>
                <a:srgbClr val="F78166"/>
              </a:solidFill>
              <a:latin typeface="Courier New"/>
            </a:endParaRPr>
          </a:p>
          <a:p>
            <a:pPr algn="l"/>
            <a:r>
              <a:rPr sz="1000" b="0" i="1" dirty="0">
                <a:solidFill>
                  <a:srgbClr val="E3B341"/>
                </a:solidFill>
                <a:latin typeface="Courier New"/>
              </a:rPr>
              <a:t>► Copilot analyzing failure...</a:t>
            </a:r>
          </a:p>
          <a:p>
            <a:pPr algn="l"/>
            <a:r>
              <a:rPr sz="1000" b="0" i="1" dirty="0">
                <a:solidFill>
                  <a:srgbClr val="E3B341"/>
                </a:solidFill>
                <a:latin typeface="Courier New"/>
              </a:rPr>
              <a:t>► Patching </a:t>
            </a:r>
            <a:r>
              <a:rPr sz="1000" b="0" i="1" dirty="0" err="1">
                <a:solidFill>
                  <a:srgbClr val="E3B341"/>
                </a:solidFill>
                <a:latin typeface="Courier New"/>
              </a:rPr>
              <a:t>complete_task</a:t>
            </a:r>
            <a:r>
              <a:rPr sz="1000" b="0" i="1" dirty="0">
                <a:solidFill>
                  <a:srgbClr val="E3B341"/>
                </a:solidFill>
                <a:latin typeface="Courier New"/>
              </a:rPr>
              <a:t>() → adding </a:t>
            </a:r>
            <a:r>
              <a:rPr sz="1000" b="0" i="1" dirty="0" err="1">
                <a:solidFill>
                  <a:srgbClr val="E3B341"/>
                </a:solidFill>
                <a:latin typeface="Courier New"/>
              </a:rPr>
              <a:t>completed_at</a:t>
            </a:r>
            <a:r>
              <a:rPr sz="1000" b="0" i="1" dirty="0">
                <a:solidFill>
                  <a:srgbClr val="E3B341"/>
                </a:solidFill>
                <a:latin typeface="Courier New"/>
              </a:rPr>
              <a:t> field</a:t>
            </a:r>
          </a:p>
          <a:p>
            <a:pPr algn="l"/>
            <a:endParaRPr sz="1000" b="0" i="1" dirty="0">
              <a:solidFill>
                <a:srgbClr val="E3B341"/>
              </a:solidFill>
              <a:latin typeface="Courier New"/>
            </a:endParaRPr>
          </a:p>
          <a:p>
            <a:pPr algn="l"/>
            <a:r>
              <a:rPr sz="1000" b="0" i="0" dirty="0">
                <a:solidFill>
                  <a:srgbClr val="3FB950"/>
                </a:solidFill>
                <a:latin typeface="Courier New"/>
              </a:rPr>
              <a:t>$ </a:t>
            </a:r>
            <a:r>
              <a:rPr sz="1000" b="0" i="0" dirty="0" err="1">
                <a:solidFill>
                  <a:srgbClr val="3FB950"/>
                </a:solidFill>
                <a:latin typeface="Courier New"/>
              </a:rPr>
              <a:t>pytest</a:t>
            </a:r>
            <a:r>
              <a:rPr sz="1000" b="0" i="0" dirty="0">
                <a:solidFill>
                  <a:srgbClr val="3FB950"/>
                </a:solidFill>
                <a:latin typeface="Courier New"/>
              </a:rPr>
              <a:t> test_task_manager.py -v</a:t>
            </a:r>
          </a:p>
          <a:p>
            <a:pPr algn="l"/>
            <a:r>
              <a:rPr sz="1000" b="0" i="0" dirty="0">
                <a:solidFill>
                  <a:srgbClr val="3FB950"/>
                </a:solidFill>
                <a:latin typeface="Courier New"/>
              </a:rPr>
              <a:t>PASSED  </a:t>
            </a:r>
            <a:r>
              <a:rPr sz="1000" b="0" i="0" dirty="0" err="1">
                <a:solidFill>
                  <a:srgbClr val="3FB950"/>
                </a:solidFill>
                <a:latin typeface="Courier New"/>
              </a:rPr>
              <a:t>TestAddTask</a:t>
            </a:r>
            <a:r>
              <a:rPr sz="1000" b="0" i="0" dirty="0">
                <a:solidFill>
                  <a:srgbClr val="3FB950"/>
                </a:solidFill>
                <a:latin typeface="Courier New"/>
              </a:rPr>
              <a:t>::</a:t>
            </a:r>
            <a:r>
              <a:rPr sz="1000" b="0" i="0" dirty="0" err="1">
                <a:solidFill>
                  <a:srgbClr val="3FB950"/>
                </a:solidFill>
                <a:latin typeface="Courier New"/>
              </a:rPr>
              <a:t>test_returns_dict_with_expected_keys</a:t>
            </a:r>
            <a:endParaRPr sz="1000" b="0" i="0" dirty="0">
              <a:solidFill>
                <a:srgbClr val="3FB950"/>
              </a:solidFill>
              <a:latin typeface="Courier New"/>
            </a:endParaRPr>
          </a:p>
          <a:p>
            <a:pPr algn="l"/>
            <a:r>
              <a:rPr sz="1000" b="0" i="0" dirty="0">
                <a:solidFill>
                  <a:srgbClr val="3FB950"/>
                </a:solidFill>
                <a:latin typeface="Courier New"/>
              </a:rPr>
              <a:t>PASSED  TestCompleteTask::</a:t>
            </a:r>
            <a:r>
              <a:rPr sz="1000" b="0" i="0" dirty="0" err="1">
                <a:solidFill>
                  <a:srgbClr val="3FB950"/>
                </a:solidFill>
                <a:latin typeface="Courier New"/>
              </a:rPr>
              <a:t>test_completed_at_is_set</a:t>
            </a:r>
            <a:endParaRPr sz="1000" b="0" i="0" dirty="0">
              <a:solidFill>
                <a:srgbClr val="3FB950"/>
              </a:solidFill>
              <a:latin typeface="Courier New"/>
            </a:endParaRPr>
          </a:p>
          <a:p>
            <a:pPr algn="l"/>
            <a:r>
              <a:rPr sz="1000" b="0" i="0" dirty="0">
                <a:solidFill>
                  <a:srgbClr val="3FB950"/>
                </a:solidFill>
                <a:latin typeface="Courier New"/>
              </a:rPr>
              <a:t>PASSED  </a:t>
            </a:r>
            <a:r>
              <a:rPr sz="1000" b="0" i="0" dirty="0" err="1">
                <a:solidFill>
                  <a:srgbClr val="3FB950"/>
                </a:solidFill>
                <a:latin typeface="Courier New"/>
              </a:rPr>
              <a:t>TestGetOverdueTasks</a:t>
            </a:r>
            <a:r>
              <a:rPr sz="1000" b="0" i="0" dirty="0">
                <a:solidFill>
                  <a:srgbClr val="3FB950"/>
                </a:solidFill>
                <a:latin typeface="Courier New"/>
              </a:rPr>
              <a:t>::</a:t>
            </a:r>
            <a:r>
              <a:rPr sz="1000" b="0" i="0" dirty="0" err="1">
                <a:solidFill>
                  <a:srgbClr val="3FB950"/>
                </a:solidFill>
                <a:latin typeface="Courier New"/>
              </a:rPr>
              <a:t>test_returns_overdue_incomplete_tasks</a:t>
            </a:r>
            <a:endParaRPr sz="1000" b="0" i="0" dirty="0">
              <a:solidFill>
                <a:srgbClr val="3FB950"/>
              </a:solidFill>
              <a:latin typeface="Courier New"/>
            </a:endParaRPr>
          </a:p>
          <a:p>
            <a:pPr algn="l"/>
            <a:r>
              <a:rPr sz="1000" b="0" i="0" dirty="0">
                <a:solidFill>
                  <a:srgbClr val="3FB950"/>
                </a:solidFill>
                <a:latin typeface="Courier New"/>
              </a:rPr>
              <a:t>PASSED  </a:t>
            </a:r>
            <a:r>
              <a:rPr sz="1000" b="0" i="0" dirty="0" err="1">
                <a:solidFill>
                  <a:srgbClr val="3FB950"/>
                </a:solidFill>
                <a:latin typeface="Courier New"/>
              </a:rPr>
              <a:t>TestUpdateTask</a:t>
            </a:r>
            <a:r>
              <a:rPr sz="1000" b="0" i="0" dirty="0">
                <a:solidFill>
                  <a:srgbClr val="3FB950"/>
                </a:solidFill>
                <a:latin typeface="Courier New"/>
              </a:rPr>
              <a:t>::</a:t>
            </a:r>
            <a:r>
              <a:rPr sz="1000" b="0" i="0" dirty="0" err="1">
                <a:solidFill>
                  <a:srgbClr val="3FB950"/>
                </a:solidFill>
                <a:latin typeface="Courier New"/>
              </a:rPr>
              <a:t>test_raises_for_missing_task</a:t>
            </a:r>
            <a:endParaRPr sz="1000" b="0" i="0" dirty="0">
              <a:solidFill>
                <a:srgbClr val="3FB950"/>
              </a:solidFill>
              <a:latin typeface="Courier New"/>
            </a:endParaRPr>
          </a:p>
          <a:p>
            <a:pPr algn="l"/>
            <a:endParaRPr sz="1000" b="0" i="0" dirty="0">
              <a:solidFill>
                <a:srgbClr val="3FB950"/>
              </a:solidFill>
              <a:latin typeface="Courier New"/>
            </a:endParaRPr>
          </a:p>
          <a:p>
            <a:pPr algn="l"/>
            <a:r>
              <a:rPr sz="1100" b="1" i="0" dirty="0">
                <a:solidFill>
                  <a:srgbClr val="3FB950"/>
                </a:solidFill>
                <a:latin typeface="Courier New"/>
              </a:rPr>
              <a:t>====== 18 passed in 0.12s ======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285232"/>
            <a:ext cx="2359151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3192" y="5303520"/>
            <a:ext cx="2267711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166"/>
                </a:solidFill>
                <a:latin typeface="Courier New"/>
              </a:rPr>
              <a:t>auto-generate tests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43784" y="5285232"/>
            <a:ext cx="2139696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16936" y="5303520"/>
            <a:ext cx="2048255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166"/>
                </a:solidFill>
                <a:latin typeface="Courier New"/>
              </a:rPr>
              <a:t>self-healing loop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48071" y="5285232"/>
            <a:ext cx="2249424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21223" y="5303520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166"/>
                </a:solidFill>
                <a:latin typeface="Courier New"/>
              </a:rPr>
              <a:t>pytest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GitHub Copilot  /  Feature 5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ourier New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8BFD"/>
                </a:solidFill>
                <a:latin typeface="Courier New"/>
              </a:rPr>
              <a:t>Inline Chat — Edit Code Without Leaving the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3840480" cy="2926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9601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8BFD"/>
                </a:solidFill>
                <a:latin typeface="Courier New"/>
              </a:rPr>
              <a:t>How to trigger Inline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2984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1.  Select code in the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1848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2.  Press  Ctrl+I  (Windows/Linux)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3852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     or  Cmd+I  (Mac)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2585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3.  A mini chat bar appears inline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57860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4.  Type your instruction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8986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5.  Accept / Discard the diff inline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218687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3538727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No side panel needed —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8587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appear directly in the file.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13632"/>
            <a:ext cx="384048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98678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  <a:latin typeface="Courier New"/>
              </a:rPr>
              <a:t>Prompts to try on update_task():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2793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58A6FF"/>
                </a:solidFill>
                <a:latin typeface="Courier New"/>
              </a:rPr>
              <a:t>"Add a try/except block and re-raise with context"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" y="45720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58A6FF"/>
                </a:solidFill>
                <a:latin typeface="Courier New"/>
              </a:rPr>
              <a:t>"Add a Google-style docstring"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864607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58A6FF"/>
                </a:solidFill>
                <a:latin typeface="Courier New"/>
              </a:rPr>
              <a:t>"Add input validation for </a:t>
            </a:r>
            <a:r>
              <a:rPr sz="1100" b="0" i="1" dirty="0" err="1">
                <a:solidFill>
                  <a:srgbClr val="58A6FF"/>
                </a:solidFill>
                <a:latin typeface="Courier New"/>
              </a:rPr>
              <a:t>allowed_fields</a:t>
            </a:r>
            <a:r>
              <a:rPr sz="1100" b="0" i="1" dirty="0">
                <a:solidFill>
                  <a:srgbClr val="58A6FF"/>
                </a:solidFill>
                <a:latin typeface="Courier New"/>
              </a:rPr>
              <a:t>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868680"/>
            <a:ext cx="7498079" cy="43708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526280" y="9875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681728" y="9875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837176" y="9875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95097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ourier New"/>
              </a:rPr>
              <a:t>task_manager.py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1207008"/>
            <a:ext cx="722376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def update_task(task_id: int, **kwargs) -&gt; dict: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    allowed = {"title", "priority", "due_date"}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    invalid = set(kwargs) - allowed</a:t>
            </a:r>
          </a:p>
          <a:p>
            <a:pPr algn="l"/>
            <a:r>
              <a:rPr sz="1050" b="0" i="0">
                <a:solidFill>
                  <a:srgbClr val="8B949E"/>
                </a:solidFill>
                <a:latin typeface="Courier New"/>
              </a:rPr>
              <a:t>    ...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395728"/>
            <a:ext cx="7498079" cy="438912"/>
          </a:xfrm>
          <a:prstGeom prst="rect">
            <a:avLst/>
          </a:prstGeom>
          <a:solidFill>
            <a:srgbClr val="1C2333"/>
          </a:solidFill>
          <a:ln w="254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44568" y="2450592"/>
            <a:ext cx="722376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6EDF3"/>
                </a:solidFill>
                <a:latin typeface="Courier New"/>
              </a:rPr>
              <a:t>Copilot:  Add try/except block and re-raise with context  |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907792"/>
            <a:ext cx="7498079" cy="190195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4526280" y="3026664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681728" y="3026664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837176" y="3026664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34840" y="2944368"/>
            <a:ext cx="7315200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8B949E"/>
                </a:solidFill>
                <a:latin typeface="Courier New"/>
              </a:rPr>
              <a:t>  Suggested changes (diff preview)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3200400"/>
            <a:ext cx="7223760" cy="1508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+     try:</a:t>
            </a:r>
          </a:p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+         for task in _tasks:</a:t>
            </a:r>
          </a:p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+             if task["id"] == task_id:</a:t>
            </a:r>
          </a:p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+                 ...</a:t>
            </a:r>
          </a:p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+         raise ValueError(f"Task {task_id} not found")</a:t>
            </a:r>
          </a:p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+     except (ValueError, KeyError): raise</a:t>
            </a:r>
          </a:p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+     except Exception as e:</a:t>
            </a:r>
          </a:p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+         raise RuntimeError(...) from 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12680" y="4892040"/>
            <a:ext cx="914400" cy="27432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012680" y="489204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117"/>
                </a:solidFill>
                <a:latin typeface="Courier New"/>
              </a:rPr>
              <a:t>Accept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91088" y="4892040"/>
            <a:ext cx="896112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991088" y="4892040"/>
            <a:ext cx="896112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Courier New"/>
              </a:rPr>
              <a:t>Discard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376672"/>
            <a:ext cx="2249424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3192" y="5394959"/>
            <a:ext cx="2157984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D"/>
                </a:solidFill>
                <a:latin typeface="Courier New"/>
              </a:rPr>
              <a:t>Ctrl+I  to trigger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34056" y="5376672"/>
            <a:ext cx="2029967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07208" y="5394959"/>
            <a:ext cx="1938527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D"/>
                </a:solidFill>
                <a:latin typeface="Courier New"/>
              </a:rPr>
              <a:t>inline diff 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28616" y="5376672"/>
            <a:ext cx="2468879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01768" y="5394959"/>
            <a:ext cx="2377439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88BFD"/>
                </a:solidFill>
                <a:latin typeface="Courier New"/>
              </a:rPr>
              <a:t>no side panel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urier New"/>
              </a:rPr>
              <a:t>GitHub Copilot  /  Feature 6 of 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117"/>
                </a:solidFill>
                <a:latin typeface="Courier New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Courier New"/>
              </a:rPr>
              <a:t>Custom Instructions — .github/copilot-instructions.md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3886200" cy="2971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960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Courier New"/>
              </a:rPr>
              <a:t>What &amp; 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3258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Copilot reads this file automatically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1848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every chat session — no manual attachment.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11095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220370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Use it to encode your team's: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4963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  •  Coding conventions &amp; style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7889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  •  Domain rules (priorities, date formats)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30815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  •  Test standards &amp; framework choices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37413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  •  What to avoid (no print(), no deps)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66674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" y="395935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Result: consistent, project-aware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251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6EDF3"/>
                </a:solidFill>
                <a:latin typeface="Calibri"/>
              </a:rPr>
              <a:t>suggestions for every engineer from day 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950208"/>
            <a:ext cx="38862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40233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  <a:latin typeface="Courier New"/>
              </a:rPr>
              <a:t>How to create: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31596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$ mkdir -p .github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5902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FB950"/>
                </a:solidFill>
                <a:latin typeface="Courier New"/>
              </a:rPr>
              <a:t>$ touch .github/copilot-instructions.md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4864607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B949E"/>
                </a:solidFill>
                <a:latin typeface="Courier New"/>
              </a:rPr>
              <a:t># Commit to repo — Copilot picks it 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868680"/>
            <a:ext cx="7452360" cy="43159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572000" y="987552"/>
            <a:ext cx="100584" cy="10058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27448" y="987552"/>
            <a:ext cx="100584" cy="10058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82896" y="987552"/>
            <a:ext cx="100584" cy="10058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2040" y="950976"/>
            <a:ext cx="690372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B949E"/>
                </a:solidFill>
                <a:latin typeface="Courier New"/>
              </a:rPr>
              <a:t>.github/copilot-instructions.md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1234440"/>
            <a:ext cx="7178040" cy="3840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  <a:latin typeface="Courier New"/>
              </a:rPr>
              <a:t># GitHub Copilot Instructions — Task Manager</a:t>
            </a:r>
          </a:p>
          <a:p>
            <a:pPr algn="l"/>
            <a:endParaRPr sz="1100" b="1" i="0">
              <a:solidFill>
                <a:srgbClr val="58A6FF"/>
              </a:solidFill>
              <a:latin typeface="Courier New"/>
            </a:endParaRPr>
          </a:p>
          <a:p>
            <a:pPr algn="l"/>
            <a:r>
              <a:rPr sz="1100" b="1" i="0">
                <a:solidFill>
                  <a:srgbClr val="E3B341"/>
                </a:solidFill>
                <a:latin typeface="Courier New"/>
              </a:rPr>
              <a:t>## Language &amp; Style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- Python 3.11+, always use full type hints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- Google-style docstrings on every public function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- snake_case for functions, UPPER_SNAKE_CASE for constants</a:t>
            </a:r>
          </a:p>
          <a:p>
            <a:pPr algn="l"/>
            <a:endParaRPr sz="1050" b="0" i="0">
              <a:solidFill>
                <a:srgbClr val="E6EDF3"/>
              </a:solidFill>
              <a:latin typeface="Courier New"/>
            </a:endParaRPr>
          </a:p>
          <a:p>
            <a:pPr algn="l"/>
            <a:r>
              <a:rPr sz="1100" b="1" i="0">
                <a:solidFill>
                  <a:srgbClr val="E3B341"/>
                </a:solidFill>
                <a:latin typeface="Courier New"/>
              </a:rPr>
              <a:t>## Domain Rules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- Valid priorities: "low", "medium", "high" — always validate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- Dates: ISO 8601 strings (YYYY-MM-DD)</a:t>
            </a:r>
          </a:p>
          <a:p>
            <a:pPr algn="l"/>
            <a:endParaRPr sz="1050" b="0" i="0">
              <a:solidFill>
                <a:srgbClr val="E6EDF3"/>
              </a:solidFill>
              <a:latin typeface="Courier New"/>
            </a:endParaRPr>
          </a:p>
          <a:p>
            <a:pPr algn="l"/>
            <a:r>
              <a:rPr sz="1100" b="1" i="0">
                <a:solidFill>
                  <a:srgbClr val="E3B341"/>
                </a:solidFill>
                <a:latin typeface="Courier New"/>
              </a:rPr>
              <a:t>## Testing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- Framework: pytest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- Reset in-memory state with autouse fixture</a:t>
            </a:r>
          </a:p>
          <a:p>
            <a:pPr algn="l"/>
            <a:endParaRPr sz="1050" b="0" i="0">
              <a:solidFill>
                <a:srgbClr val="E6EDF3"/>
              </a:solidFill>
              <a:latin typeface="Courier New"/>
            </a:endParaRPr>
          </a:p>
          <a:p>
            <a:pPr algn="l"/>
            <a:r>
              <a:rPr sz="1100" b="1" i="0">
                <a:solidFill>
                  <a:srgbClr val="E3B341"/>
                </a:solidFill>
                <a:latin typeface="Courier New"/>
              </a:rPr>
              <a:t>## What to Avoid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- No external deps beyond stdlib + pytest</a:t>
            </a:r>
          </a:p>
          <a:p>
            <a:pPr algn="l"/>
            <a:r>
              <a:rPr sz="1050" b="0" i="0">
                <a:solidFill>
                  <a:srgbClr val="E6EDF3"/>
                </a:solidFill>
                <a:latin typeface="Courier New"/>
              </a:rPr>
              <a:t>- No print() in production 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5376672"/>
            <a:ext cx="2359151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3192" y="5394959"/>
            <a:ext cx="2267711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urier New"/>
              </a:rPr>
              <a:t>auto-loaded context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43784" y="5376672"/>
            <a:ext cx="1920239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916936" y="5394959"/>
            <a:ext cx="1828799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urier New"/>
              </a:rPr>
              <a:t>.github/ folder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28615" y="5376672"/>
            <a:ext cx="2359151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01767" y="5394959"/>
            <a:ext cx="2267711" cy="2194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FB950"/>
                </a:solidFill>
                <a:latin typeface="Courier New"/>
              </a:rPr>
              <a:t>team-wide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1274552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EDF3"/>
                </a:solidFill>
                <a:latin typeface="Courier New"/>
              </a:rPr>
              <a:t>What We Covered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6" y="1078992"/>
            <a:ext cx="358444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6636" y="1078992"/>
            <a:ext cx="64008" cy="157276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" y="1188719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FB950"/>
                </a:solidFill>
                <a:latin typeface="Courier New"/>
              </a:rPr>
              <a:t>Auto-complete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" y="1609343"/>
            <a:ext cx="331012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Comment → Tab → done.
The fastest way to scaffold functions.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2252" y="1078992"/>
            <a:ext cx="358444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02252" y="1078992"/>
            <a:ext cx="64008" cy="157276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03420" y="1188719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C8CFF"/>
                </a:solidFill>
                <a:latin typeface="Courier New"/>
              </a:rPr>
              <a:t>Ask + /explain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6844" y="1609343"/>
            <a:ext cx="331012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Chat panel for Q&amp;A, /explain,
switching models, adding context.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7867" y="1078992"/>
            <a:ext cx="358444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7867" y="1078992"/>
            <a:ext cx="64008" cy="157276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9036" y="1188719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3B341"/>
                </a:solidFill>
                <a:latin typeface="Courier New"/>
              </a:rPr>
              <a:t>Agent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2459" y="1609343"/>
            <a:ext cx="331012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Multi-step autonomous coding —
reads, writes, runs code for you.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" y="2852928"/>
            <a:ext cx="358444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6636" y="2852928"/>
            <a:ext cx="64008" cy="157276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" y="2962656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8166"/>
                </a:solidFill>
                <a:latin typeface="Courier New"/>
              </a:rPr>
              <a:t>Tests + 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" y="3383280"/>
            <a:ext cx="331012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Agent generates tests, runs pytest,
and self-heals failures in a loop.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02252" y="2852928"/>
            <a:ext cx="358444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02252" y="2852928"/>
            <a:ext cx="64008" cy="1572768"/>
          </a:xfrm>
          <a:prstGeom prst="rect">
            <a:avLst/>
          </a:prstGeom>
          <a:solidFill>
            <a:srgbClr val="388BFD"/>
          </a:solidFill>
          <a:ln w="12700">
            <a:solidFill>
              <a:srgbClr val="388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03420" y="2962656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8BFD"/>
                </a:solidFill>
                <a:latin typeface="Courier New"/>
              </a:rPr>
              <a:t>Inline 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6844" y="3383280"/>
            <a:ext cx="331012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Ctrl+I to edit any selection
without leaving the file.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7867" y="2852928"/>
            <a:ext cx="3584448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87867" y="2852928"/>
            <a:ext cx="64008" cy="15727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9036" y="2962656"/>
            <a:ext cx="3310128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  <a:latin typeface="Courier New"/>
              </a:rPr>
              <a:t>Instructions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2459" y="3383280"/>
            <a:ext cx="3310128" cy="9601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  <a:latin typeface="Calibri"/>
              </a:rPr>
              <a:t>.github/copilot-instructions.md —
persistent, team-wide AI context.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236208"/>
            <a:ext cx="11274552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B949E"/>
                </a:solidFill>
                <a:latin typeface="Calibri"/>
              </a:rPr>
              <a:t>Next step: set up Copilot in your own VS Code and try each feature on your current project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1419</Words>
  <Application>Microsoft Office PowerPoint</Application>
  <PresentationFormat>Custom</PresentationFormat>
  <Paragraphs>210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Slava</cp:lastModifiedBy>
  <cp:revision>5</cp:revision>
  <dcterms:created xsi:type="dcterms:W3CDTF">2013-01-27T09:14:16Z</dcterms:created>
  <dcterms:modified xsi:type="dcterms:W3CDTF">2026-03-18T20:24:00Z</dcterms:modified>
  <cp:category/>
</cp:coreProperties>
</file>